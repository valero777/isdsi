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8" r:id="rId3"/>
    <p:sldId id="277" r:id="rId4"/>
    <p:sldId id="282" r:id="rId5"/>
    <p:sldId id="281" r:id="rId6"/>
    <p:sldId id="280" r:id="rId7"/>
    <p:sldId id="279" r:id="rId8"/>
    <p:sldId id="276" r:id="rId9"/>
    <p:sldId id="285" r:id="rId10"/>
    <p:sldId id="275" r:id="rId11"/>
    <p:sldId id="284" r:id="rId12"/>
    <p:sldId id="283" r:id="rId13"/>
    <p:sldId id="288" r:id="rId14"/>
    <p:sldId id="289" r:id="rId15"/>
    <p:sldId id="291" r:id="rId16"/>
    <p:sldId id="290" r:id="rId17"/>
    <p:sldId id="28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6/6/2025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6/6/2025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6/6/2025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06B5A9-DCB1-79A2-68D0-5265F327A8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7550" y="609600"/>
            <a:ext cx="8216900" cy="961496"/>
          </a:xfrm>
        </p:spPr>
        <p:txBody>
          <a:bodyPr/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 ciberseguridad</a:t>
            </a:r>
          </a:p>
        </p:txBody>
      </p:sp>
      <p:pic>
        <p:nvPicPr>
          <p:cNvPr id="1026" name="Picture 2" descr="Qué es la ciberseguridad?">
            <a:extLst>
              <a:ext uri="{FF2B5EF4-FFF2-40B4-BE49-F238E27FC236}">
                <a16:creationId xmlns:a16="http://schemas.microsoft.com/office/drawing/2014/main" id="{3CAC2792-8BFC-5803-6753-14A634465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3800" y="1730683"/>
            <a:ext cx="7264399" cy="4081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97147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C079E-85FC-BB85-F854-1E9CC4165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25F7FD-528F-6F61-B56C-224E2F2916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08325" y="622300"/>
            <a:ext cx="6026150" cy="961496"/>
          </a:xfrm>
        </p:spPr>
        <p:txBody>
          <a:bodyPr>
            <a:normAutofit/>
          </a:bodyPr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Introducción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1C6C0DC-E760-699D-69E4-BB7ECB563E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2527299"/>
            <a:ext cx="9499600" cy="1803401"/>
          </a:xfrm>
        </p:spPr>
        <p:txBody>
          <a:bodyPr/>
          <a:lstStyle/>
          <a:p>
            <a:r>
              <a:rPr lang="es-MX" dirty="0"/>
              <a:t>Hoy vamos a hablar sobre la ciberseguridad, hackers y la criptografía</a:t>
            </a:r>
          </a:p>
        </p:txBody>
      </p:sp>
    </p:spTree>
    <p:extLst>
      <p:ext uri="{BB962C8B-B14F-4D97-AF65-F5344CB8AC3E}">
        <p14:creationId xmlns:p14="http://schemas.microsoft.com/office/powerpoint/2010/main" val="1122635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FB0EA-035B-B967-C1EF-F11DCD2CD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5F5DF8-FA49-91A4-F4B4-21E9F4F306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1125" y="0"/>
            <a:ext cx="6889750" cy="961496"/>
          </a:xfrm>
        </p:spPr>
        <p:txBody>
          <a:bodyPr/>
          <a:lstStyle/>
          <a:p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CIBERseguridad</a:t>
            </a:r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DCD95D9-47A7-7A61-1095-6DF18D7DFC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800" y="1308100"/>
            <a:ext cx="9448800" cy="3975100"/>
          </a:xfrm>
        </p:spPr>
        <p:txBody>
          <a:bodyPr>
            <a:noAutofit/>
          </a:bodyPr>
          <a:lstStyle/>
          <a:p>
            <a:r>
              <a:rPr lang="es-MX" sz="2400" dirty="0"/>
              <a:t>El objetivo principal de la ciberseguridad es</a:t>
            </a:r>
          </a:p>
          <a:p>
            <a:r>
              <a:rPr lang="es-MX" sz="2400" dirty="0"/>
              <a:t>Proteger la información confidencial</a:t>
            </a:r>
          </a:p>
          <a:p>
            <a:r>
              <a:rPr lang="es-MX" sz="2400" dirty="0"/>
              <a:t>Esto incluye datos personales, empresariales, financieros y de cualquier otra naturaleza. </a:t>
            </a:r>
          </a:p>
          <a:p>
            <a:r>
              <a:rPr lang="es-MX" sz="2400" dirty="0"/>
              <a:t>Evitar daños a la infraestructura</a:t>
            </a:r>
          </a:p>
          <a:p>
            <a:r>
              <a:rPr lang="es-MX" sz="2400" dirty="0"/>
              <a:t>Se busca prevenir interrupciones en los servicios, sistemas y redes. </a:t>
            </a:r>
          </a:p>
          <a:p>
            <a:r>
              <a:rPr lang="es-MX" sz="2400" dirty="0"/>
              <a:t>Mantener la reputación de la organización</a:t>
            </a:r>
          </a:p>
          <a:p>
            <a:r>
              <a:rPr lang="es-MX" sz="2400" dirty="0"/>
              <a:t>Un ciberataque puede dañar la confianza de los clientes y socios comerciales. </a:t>
            </a:r>
          </a:p>
          <a:p>
            <a:r>
              <a:rPr lang="es-MX" sz="2400" dirty="0"/>
              <a:t>Cumplir con las regulaciones y normativas</a:t>
            </a:r>
          </a:p>
          <a:p>
            <a:r>
              <a:rPr lang="es-MX" sz="2400" dirty="0"/>
              <a:t>Muchas industrias tienen requisitos específicos en materia de ciberseguridad. </a:t>
            </a:r>
          </a:p>
        </p:txBody>
      </p:sp>
    </p:spTree>
    <p:extLst>
      <p:ext uri="{BB962C8B-B14F-4D97-AF65-F5344CB8AC3E}">
        <p14:creationId xmlns:p14="http://schemas.microsoft.com/office/powerpoint/2010/main" val="3604823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13214-A5A9-739D-2165-659A3AEED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3B0E0B-6A85-C120-BD8F-267902578D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7550" y="609600"/>
            <a:ext cx="8216900" cy="961496"/>
          </a:xfrm>
        </p:spPr>
        <p:txBody>
          <a:bodyPr/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¿en que se centra?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B2D3BDA-A41B-4989-E647-4B3255037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9457"/>
            <a:ext cx="65" cy="478914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6654" rIns="0" bIns="13330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DE10BB2-BDB9-B6AD-EDA7-2DCDA087DDB8}"/>
              </a:ext>
            </a:extLst>
          </p:cNvPr>
          <p:cNvSpPr txBox="1"/>
          <p:nvPr/>
        </p:nvSpPr>
        <p:spPr>
          <a:xfrm>
            <a:off x="0" y="1857097"/>
            <a:ext cx="12192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rgbClr val="EEF0FF"/>
                </a:solidFill>
                <a:effectLst/>
                <a:latin typeface="Google Sans"/>
              </a:rPr>
              <a:t>En detalle, la ciberseguridad se enfoca en:</a:t>
            </a:r>
            <a:endParaRPr kumimoji="0" lang="es-MX" altLang="es-MX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rgbClr val="EEF0FF"/>
                </a:solidFill>
                <a:effectLst/>
                <a:latin typeface="Google Sans"/>
              </a:rPr>
              <a:t>Protección de datos: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rgbClr val="EEF0FF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rgbClr val="EEF0FF"/>
                </a:solidFill>
                <a:effectLst/>
                <a:latin typeface="Google Sans"/>
              </a:rPr>
              <a:t>Se busca proteger información personal, empresarial, financiera y confidencial de accesos no autorizados, robo, y divulgación.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rgbClr val="EEF0FF"/>
                </a:solidFill>
                <a:effectLst/>
                <a:latin typeface="Google Sans"/>
              </a:rPr>
              <a:t>Seguridad de sistemas: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rgbClr val="EEF0FF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rgbClr val="EEF0FF"/>
                </a:solidFill>
                <a:effectLst/>
                <a:latin typeface="Google Sans"/>
              </a:rPr>
              <a:t>Se implementan medidas para proteger redes, servidores, dispositivos y hardware de amenazas cibernéticas, como virus, malware, y ataques de denegación de servicio.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rgbClr val="EEF0FF"/>
                </a:solidFill>
                <a:effectLst/>
                <a:latin typeface="Google Sans"/>
              </a:rPr>
              <a:t>Seguridad de aplicaciones: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rgbClr val="EEF0FF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rgbClr val="EEF0FF"/>
                </a:solidFill>
                <a:effectLst/>
                <a:latin typeface="Google Sans"/>
              </a:rPr>
              <a:t>Se asegura la seguridad de las aplicaciones web y móviles, protegiéndolas contra vulnerabilidades y ataques que podrían comprometer la información y la funcionalidad.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rgbClr val="EEF0FF"/>
                </a:solidFill>
                <a:effectLst/>
                <a:latin typeface="Google Sans"/>
              </a:rPr>
              <a:t>Concientización y educación: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rgbClr val="EEF0FF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rgbClr val="EEF0FF"/>
                </a:solidFill>
                <a:effectLst/>
                <a:latin typeface="Google Sans"/>
              </a:rPr>
              <a:t>Se promueve la conciencia sobre las amenazas cibernéticas y las buenas prácticas de seguridad para que los usuarios puedan protegerse mejor.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rgbClr val="EEF0FF"/>
                </a:solidFill>
                <a:effectLst/>
                <a:latin typeface="Google Sans"/>
              </a:rPr>
              <a:t>Implementación de políticas y procedimientos: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rgbClr val="EEF0FF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rgbClr val="EEF0FF"/>
                </a:solidFill>
                <a:effectLst/>
                <a:latin typeface="Google Sans"/>
              </a:rPr>
              <a:t>Se establecen políticas y procedimientos de seguridad para garantizar la protección de los activos y sistemas de la organización.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rgbClr val="EEF0FF"/>
                </a:solidFill>
                <a:effectLst/>
                <a:latin typeface="Google Sans"/>
              </a:rPr>
              <a:t>Monitoreo y respuesta a incidentes: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rgbClr val="EEF0FF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rgbClr val="EEF0FF"/>
                </a:solidFill>
                <a:effectLst/>
                <a:latin typeface="Google Sans"/>
              </a:rPr>
              <a:t>Se implementan sistemas para detectar y responder rápidamente a ciberataques y amenazas, minimizando el impacto de los incidentes de seguridad. </a:t>
            </a:r>
          </a:p>
        </p:txBody>
      </p:sp>
    </p:spTree>
    <p:extLst>
      <p:ext uri="{BB962C8B-B14F-4D97-AF65-F5344CB8AC3E}">
        <p14:creationId xmlns:p14="http://schemas.microsoft.com/office/powerpoint/2010/main" val="391972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07DAD-C042-97E1-FA69-A67220DC1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25A600-DA5B-183D-1198-7A43C26D31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7550" y="609600"/>
            <a:ext cx="8375650" cy="961496"/>
          </a:xfrm>
        </p:spPr>
        <p:txBody>
          <a:bodyPr>
            <a:normAutofit fontScale="90000"/>
          </a:bodyPr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¿de que se conforma?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7C4FCB0-6407-3225-2A05-5F168237F9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1765300"/>
            <a:ext cx="9448800" cy="5092700"/>
          </a:xfrm>
        </p:spPr>
        <p:txBody>
          <a:bodyPr>
            <a:normAutofit lnSpcReduction="10000"/>
          </a:bodyPr>
          <a:lstStyle/>
          <a:p>
            <a:r>
              <a:rPr lang="es-MX" dirty="0"/>
              <a:t>A continuación, se detallan los elementos clave que componen la ciberseguridad:</a:t>
            </a:r>
          </a:p>
          <a:p>
            <a:r>
              <a:rPr lang="es-MX" b="1" dirty="0"/>
              <a:t>Tecnologías:</a:t>
            </a:r>
            <a:endParaRPr lang="es-MX" dirty="0"/>
          </a:p>
          <a:p>
            <a:pPr fontAlgn="ctr"/>
            <a:r>
              <a:rPr lang="es-MX" b="1" dirty="0"/>
              <a:t>Firewalls:</a:t>
            </a:r>
            <a:r>
              <a:rPr lang="es-MX" dirty="0"/>
              <a:t> Proporcionan una barrera de seguridad entre una red interna y el mundo exterior, bloqueando el tráfico no autorizado. </a:t>
            </a:r>
          </a:p>
          <a:p>
            <a:pPr fontAlgn="ctr"/>
            <a:r>
              <a:rPr lang="es-MX" b="1" dirty="0"/>
              <a:t>Software antivirus y antimalware:</a:t>
            </a:r>
            <a:r>
              <a:rPr lang="es-MX" dirty="0"/>
              <a:t> Detectan y eliminan software malicioso que puede comprometer la seguridad de los sistemas. </a:t>
            </a:r>
          </a:p>
          <a:p>
            <a:pPr fontAlgn="ctr"/>
            <a:r>
              <a:rPr lang="es-MX" b="1" dirty="0"/>
              <a:t>Cifrado:</a:t>
            </a:r>
            <a:r>
              <a:rPr lang="es-MX" dirty="0"/>
              <a:t> Protege la información sensible mediante la conversión de datos en un formato ilegible para terceros, asegurando que solo los usuarios autorizados puedan acceder a ella. </a:t>
            </a:r>
          </a:p>
          <a:p>
            <a:pPr fontAlgn="ctr"/>
            <a:r>
              <a:rPr lang="es-MX" b="1" dirty="0"/>
              <a:t>Sistemas de detección de intrusiones (IDS) y prevención de intrusiones (IPS):</a:t>
            </a:r>
            <a:r>
              <a:rPr lang="es-MX" dirty="0"/>
              <a:t> Monitorean el tráfico de red en busca de actividad sospechosa y toman medidas para bloquearla. </a:t>
            </a:r>
          </a:p>
          <a:p>
            <a:r>
              <a:rPr lang="es-MX" b="1" dirty="0"/>
              <a:t>Soluciones de seguridad de datos:</a:t>
            </a:r>
            <a:r>
              <a:rPr lang="es-MX" dirty="0"/>
              <a:t> Proporcionan protección a los datos en reposo y en tránsito, utilizando métodos como el cifrado y la creación de copias de seguridad. 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88742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04069-BFE1-45D7-1223-BFBC09998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E723E0-7086-3F98-D178-E37D94F85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31962" y="330200"/>
            <a:ext cx="8728075" cy="961496"/>
          </a:xfrm>
        </p:spPr>
        <p:txBody>
          <a:bodyPr>
            <a:normAutofit/>
          </a:bodyPr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¿tiene limitaciones?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829907-0182-4A8B-A62A-1C6E65872E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1291696"/>
            <a:ext cx="9448800" cy="1311804"/>
          </a:xfrm>
        </p:spPr>
        <p:txBody>
          <a:bodyPr/>
          <a:lstStyle/>
          <a:p>
            <a:r>
              <a:rPr lang="es-MX" dirty="0"/>
              <a:t>Uno de los principales desafíos en ciberseguridad es la constante evolución de las </a:t>
            </a:r>
            <a:r>
              <a:rPr lang="es-MX" dirty="0" err="1"/>
              <a:t>ciberamenazas</a:t>
            </a:r>
            <a:r>
              <a:rPr lang="es-MX" dirty="0"/>
              <a:t>. Los hackers y ciberdelincuentes desarrollan continuamente nuevos métodos para explotar vulnerabilidades, a menudo anticipándose a las medidas defensivas.</a:t>
            </a:r>
          </a:p>
        </p:txBody>
      </p:sp>
      <p:pic>
        <p:nvPicPr>
          <p:cNvPr id="6149" name="Picture 5" descr="Ciberseguridad en Latinoamérica, los retos y limitaciones">
            <a:extLst>
              <a:ext uri="{FF2B5EF4-FFF2-40B4-BE49-F238E27FC236}">
                <a16:creationId xmlns:a16="http://schemas.microsoft.com/office/drawing/2014/main" id="{23AB5243-F426-3CB1-84DA-85CDE70CE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7824" y="2603500"/>
            <a:ext cx="6356350" cy="416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5084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19548-A37B-B247-6212-481245996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C3FE73-ED16-5836-EE35-F44073A11F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94075" y="279400"/>
            <a:ext cx="5403850" cy="961496"/>
          </a:xfrm>
        </p:spPr>
        <p:txBody>
          <a:bodyPr/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 hackers</a:t>
            </a:r>
          </a:p>
        </p:txBody>
      </p:sp>
      <p:pic>
        <p:nvPicPr>
          <p:cNvPr id="8194" name="Picture 2" descr="Qué es un Hacker (concepto y tipos) - Enciclopedia Significados">
            <a:extLst>
              <a:ext uri="{FF2B5EF4-FFF2-40B4-BE49-F238E27FC236}">
                <a16:creationId xmlns:a16="http://schemas.microsoft.com/office/drawing/2014/main" id="{6C89C3C6-1CE8-8ED0-C555-3B648DBA97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7531" y="1079500"/>
            <a:ext cx="5976938" cy="577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2885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A98AD-6B45-1365-6389-55FE52D72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A3D930-9E2A-D0E1-4E7B-8A98677D5A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9575" y="558800"/>
            <a:ext cx="8832850" cy="961496"/>
          </a:xfrm>
        </p:spPr>
        <p:txBody>
          <a:bodyPr>
            <a:normAutofit fontScale="90000"/>
          </a:bodyPr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¿Qué son los hackers?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86B1F52-CEE7-D747-5151-CEF4A1AC06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7450" y="1676400"/>
            <a:ext cx="9817100" cy="3009900"/>
          </a:xfrm>
        </p:spPr>
        <p:txBody>
          <a:bodyPr>
            <a:noAutofit/>
          </a:bodyPr>
          <a:lstStyle/>
          <a:p>
            <a:r>
              <a:rPr lang="es-MX" sz="2800" dirty="0"/>
              <a:t>Los hackers son personas con habilidades avanzadas en informática, capaces de detectar vulnerabilidades en sistemas y redes. Tradicionalmente, la palabra "hacker" se asociaba a la exploración y resolución de problemas informáticos, mientras que actualmente se utiliza más en referencia a aquellos que buscan acceso no autorizado a sistemas con intenciones maliciosas</a:t>
            </a:r>
          </a:p>
        </p:txBody>
      </p:sp>
    </p:spTree>
    <p:extLst>
      <p:ext uri="{BB962C8B-B14F-4D97-AF65-F5344CB8AC3E}">
        <p14:creationId xmlns:p14="http://schemas.microsoft.com/office/powerpoint/2010/main" val="1033449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97D73-2E11-B41E-BDA1-DD9B2B8EC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9A4125-5670-9288-A08A-2512E8B17F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9025" y="266700"/>
            <a:ext cx="10013950" cy="961496"/>
          </a:xfrm>
        </p:spPr>
        <p:txBody>
          <a:bodyPr>
            <a:normAutofit fontScale="90000"/>
          </a:bodyPr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¿Qué tipo de hackers hay?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00A68A-D99D-C22C-3B65-FDB20402365C}"/>
              </a:ext>
            </a:extLst>
          </p:cNvPr>
          <p:cNvSpPr txBox="1"/>
          <p:nvPr/>
        </p:nvSpPr>
        <p:spPr>
          <a:xfrm>
            <a:off x="412750" y="1382743"/>
            <a:ext cx="113665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Tipos de hackers:</a:t>
            </a:r>
          </a:p>
          <a:p>
            <a:r>
              <a:rPr lang="es-MX" dirty="0"/>
              <a:t>Hackers éticos (White </a:t>
            </a:r>
            <a:r>
              <a:rPr lang="es-MX" dirty="0" err="1"/>
              <a:t>Hat</a:t>
            </a:r>
            <a:r>
              <a:rPr lang="es-MX" dirty="0"/>
              <a:t>):</a:t>
            </a:r>
          </a:p>
          <a:p>
            <a:r>
              <a:rPr lang="es-MX" dirty="0"/>
              <a:t>Trabajan para mejorar la seguridad de los sistemas, identificando y solucionando vulnerabilidades con el permiso del propietario. </a:t>
            </a:r>
          </a:p>
          <a:p>
            <a:r>
              <a:rPr lang="es-MX" dirty="0"/>
              <a:t>Crackers (Black </a:t>
            </a:r>
            <a:r>
              <a:rPr lang="es-MX" dirty="0" err="1"/>
              <a:t>Hat</a:t>
            </a:r>
            <a:r>
              <a:rPr lang="es-MX" dirty="0"/>
              <a:t>):</a:t>
            </a:r>
          </a:p>
          <a:p>
            <a:r>
              <a:rPr lang="es-MX" dirty="0"/>
              <a:t>Explotan vulnerabilidades con fines maliciosos, como robar datos o dañar sistemas. </a:t>
            </a:r>
          </a:p>
          <a:p>
            <a:r>
              <a:rPr lang="es-MX" dirty="0"/>
              <a:t>Hackers de sombrero gris (Gray </a:t>
            </a:r>
            <a:r>
              <a:rPr lang="es-MX" dirty="0" err="1"/>
              <a:t>Hat</a:t>
            </a:r>
            <a:r>
              <a:rPr lang="es-MX" dirty="0"/>
              <a:t>):</a:t>
            </a:r>
          </a:p>
          <a:p>
            <a:r>
              <a:rPr lang="es-MX" dirty="0"/>
              <a:t>Operan sin autorización y pueden compartir información sobre vulnerabilidades o, en algunos casos, explotarlas. </a:t>
            </a:r>
          </a:p>
          <a:p>
            <a:r>
              <a:rPr lang="es-MX" dirty="0"/>
              <a:t>Hackers de SEO:</a:t>
            </a:r>
          </a:p>
          <a:p>
            <a:r>
              <a:rPr lang="es-MX" dirty="0"/>
              <a:t>Se enfocan en técnicas para mejorar el posicionamiento en buscadores, pero pueden utilizar métodos no éticos para ello. </a:t>
            </a:r>
          </a:p>
        </p:txBody>
      </p:sp>
    </p:spTree>
    <p:extLst>
      <p:ext uri="{BB962C8B-B14F-4D97-AF65-F5344CB8AC3E}">
        <p14:creationId xmlns:p14="http://schemas.microsoft.com/office/powerpoint/2010/main" val="1362718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D181D-B393-C846-DA53-532C8C7B5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FF6206-E81B-7564-6B27-62841DEEFE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7550" y="1"/>
            <a:ext cx="8216900" cy="2413000"/>
          </a:xfrm>
        </p:spPr>
        <p:txBody>
          <a:bodyPr>
            <a:normAutofit fontScale="90000"/>
          </a:bodyPr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¿Qué diferencia hay entre hackers y 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crakers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B2321D5-9632-7BD0-7009-8D7BE8391F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2514600"/>
            <a:ext cx="9448800" cy="2184400"/>
          </a:xfrm>
        </p:spPr>
        <p:txBody>
          <a:bodyPr>
            <a:noAutofit/>
          </a:bodyPr>
          <a:lstStyle/>
          <a:p>
            <a:r>
              <a:rPr lang="es-MX" sz="2800" dirty="0"/>
              <a:t>La principal diferencia entre un hacker y un cracker radica en su intención y ética. Un hacker, en general, utiliza sus habilidades para identificar y solucionar problemas de seguridad en sistemas, buscando mejorar la protección y la integridad de los mismos. Por otro lado, un cracker utiliza esas mismas habilidades para vulnerar la seguridad con fines ilegales, como robar información, dañar sistemas o propagar malware. </a:t>
            </a:r>
          </a:p>
        </p:txBody>
      </p:sp>
    </p:spTree>
    <p:extLst>
      <p:ext uri="{BB962C8B-B14F-4D97-AF65-F5344CB8AC3E}">
        <p14:creationId xmlns:p14="http://schemas.microsoft.com/office/powerpoint/2010/main" val="94011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67403-9716-B8E2-1FF6-19CE2F73A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FDDED6-8D9A-2F04-3FFE-EF5D63EB6D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25725" y="254000"/>
            <a:ext cx="6940550" cy="961496"/>
          </a:xfrm>
        </p:spPr>
        <p:txBody>
          <a:bodyPr/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criptografía</a:t>
            </a:r>
          </a:p>
        </p:txBody>
      </p:sp>
      <p:pic>
        <p:nvPicPr>
          <p:cNvPr id="10242" name="Picture 2" descr="Criptografía: qué es y cómo funciona | InnovaciónDigital360">
            <a:extLst>
              <a:ext uri="{FF2B5EF4-FFF2-40B4-BE49-F238E27FC236}">
                <a16:creationId xmlns:a16="http://schemas.microsoft.com/office/drawing/2014/main" id="{5112AEB8-7F91-97D0-8958-AD13E308A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8956" y="1705361"/>
            <a:ext cx="6034088" cy="4543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5313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54312-B159-5160-79A3-EF851FDE4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F8C085-5E8F-13BC-2BEC-AD27DFB01B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1425" y="571500"/>
            <a:ext cx="9709150" cy="961496"/>
          </a:xfrm>
        </p:spPr>
        <p:txBody>
          <a:bodyPr>
            <a:normAutofit fontScale="90000"/>
          </a:bodyPr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¿Qué es la criptografía?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0015B97-9512-DED1-3382-FD91FF3392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400" y="1920346"/>
            <a:ext cx="4406900" cy="4366154"/>
          </a:xfrm>
        </p:spPr>
        <p:txBody>
          <a:bodyPr>
            <a:normAutofit/>
          </a:bodyPr>
          <a:lstStyle/>
          <a:p>
            <a:r>
              <a:rPr lang="es-MX" dirty="0"/>
              <a:t>La criptografía es el arte y la ciencia de cifrar y descifrar información, creando mensajes ilegibles para terceros y permitiendo que solo el destinatario autorizado los lea. </a:t>
            </a:r>
          </a:p>
          <a:p>
            <a:r>
              <a:rPr lang="es-MX" dirty="0"/>
              <a:t>En esencia, es una técnica para proteger datos mediante algoritmos codificados, hashes y firmas. </a:t>
            </a:r>
          </a:p>
        </p:txBody>
      </p:sp>
      <p:pic>
        <p:nvPicPr>
          <p:cNvPr id="11266" name="Picture 2" descr="Qué es criptografía? | NIC Argentina">
            <a:extLst>
              <a:ext uri="{FF2B5EF4-FFF2-40B4-BE49-F238E27FC236}">
                <a16:creationId xmlns:a16="http://schemas.microsoft.com/office/drawing/2014/main" id="{BFCB602D-E181-FB37-1CB1-595A116061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000" y="1728523"/>
            <a:ext cx="7493000" cy="3783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69190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16CB5-051B-70E9-94D0-400877EF4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391AEA-6D69-C3BE-D322-85875E5D6B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1425" y="571500"/>
            <a:ext cx="9709150" cy="961496"/>
          </a:xfrm>
        </p:spPr>
        <p:txBody>
          <a:bodyPr>
            <a:normAutofit/>
          </a:bodyPr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¿de que se conforma?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2C42291-AD4A-600D-B12A-C45E03299B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400" y="1920346"/>
            <a:ext cx="11201400" cy="2880254"/>
          </a:xfrm>
        </p:spPr>
        <p:txBody>
          <a:bodyPr>
            <a:normAutofit/>
          </a:bodyPr>
          <a:lstStyle/>
          <a:p>
            <a:r>
              <a:rPr lang="es-MX" sz="2800" dirty="0"/>
              <a:t>La criptografía se conforma de algoritmos y técnicas que se utilizan para proteger la información, asegurando la confidencialidad, integridad y autenticidad de los datos. Se basa en la transformación de datos, utilizando claves y algoritmos para hacerlos ininteligibles sin el conocimiento de la clave correcta, garantizando así la seguridad de la comunicación y la información. </a:t>
            </a:r>
          </a:p>
          <a:p>
            <a:endParaRPr lang="es-MX" sz="2800" dirty="0"/>
          </a:p>
        </p:txBody>
      </p:sp>
    </p:spTree>
    <p:extLst>
      <p:ext uri="{BB962C8B-B14F-4D97-AF65-F5344CB8AC3E}">
        <p14:creationId xmlns:p14="http://schemas.microsoft.com/office/powerpoint/2010/main" val="165785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0484A-DA3C-7844-186F-877A318C6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9E0C4-0E99-40D7-830B-3BEA3C428B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30462" y="381000"/>
            <a:ext cx="7331075" cy="961496"/>
          </a:xfrm>
        </p:spPr>
        <p:txBody>
          <a:bodyPr>
            <a:normAutofit/>
          </a:bodyPr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¿Cómo funciona?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3EF52C4-6244-0B36-9BCD-826B32C56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400" y="1920346"/>
            <a:ext cx="11785600" cy="4823354"/>
          </a:xfrm>
        </p:spPr>
        <p:txBody>
          <a:bodyPr>
            <a:normAutofit fontScale="70000" lnSpcReduction="20000"/>
          </a:bodyPr>
          <a:lstStyle/>
          <a:p>
            <a:r>
              <a:rPr lang="es-MX" dirty="0"/>
              <a:t>Principales conceptos de la criptografía:</a:t>
            </a:r>
          </a:p>
          <a:p>
            <a:r>
              <a:rPr lang="es-MX" b="1" dirty="0"/>
              <a:t>Cifrado:</a:t>
            </a:r>
            <a:endParaRPr lang="es-MX" dirty="0"/>
          </a:p>
          <a:p>
            <a:pPr fontAlgn="ctr"/>
            <a:r>
              <a:rPr lang="es-MX" dirty="0"/>
              <a:t>Proceso de transformar la información original (texto plano) en un formato ininteligible (texto cifrado). </a:t>
            </a:r>
          </a:p>
          <a:p>
            <a:r>
              <a:rPr lang="es-MX" b="1" dirty="0"/>
              <a:t>Descifrado:</a:t>
            </a:r>
            <a:endParaRPr lang="es-MX" dirty="0"/>
          </a:p>
          <a:p>
            <a:pPr fontAlgn="ctr"/>
            <a:r>
              <a:rPr lang="es-MX" dirty="0"/>
              <a:t>Proceso inverso al cifrado, que permite recuperar la información original a partir del texto cifrado. </a:t>
            </a:r>
          </a:p>
          <a:p>
            <a:r>
              <a:rPr lang="es-MX" b="1" dirty="0"/>
              <a:t>Claves:</a:t>
            </a:r>
            <a:endParaRPr lang="es-MX" dirty="0"/>
          </a:p>
          <a:p>
            <a:pPr fontAlgn="ctr"/>
            <a:r>
              <a:rPr lang="es-MX" dirty="0"/>
              <a:t>Se utilizan para cifrar y descifrar la información. Pueden ser de clave simétrica (una sola clave para cifrar y descifrar) o asimétrica (dos claves, una pública y otra privada). </a:t>
            </a:r>
          </a:p>
          <a:p>
            <a:r>
              <a:rPr lang="es-MX" b="1" dirty="0"/>
              <a:t>Algoritmos:</a:t>
            </a:r>
            <a:endParaRPr lang="es-MX" dirty="0"/>
          </a:p>
          <a:p>
            <a:pPr fontAlgn="ctr"/>
            <a:r>
              <a:rPr lang="es-MX" dirty="0"/>
              <a:t>Son los procedimientos matemáticos utilizados para realizar el cifrado y descifrado. </a:t>
            </a:r>
          </a:p>
          <a:p>
            <a:r>
              <a:rPr lang="es-MX" dirty="0"/>
              <a:t>Tipos de criptografía:</a:t>
            </a:r>
          </a:p>
          <a:p>
            <a:r>
              <a:rPr lang="es-MX" b="1" dirty="0"/>
              <a:t>Criptografía de clave simétrica:</a:t>
            </a:r>
            <a:endParaRPr lang="es-MX" dirty="0"/>
          </a:p>
          <a:p>
            <a:pPr fontAlgn="ctr"/>
            <a:r>
              <a:rPr lang="es-MX" dirty="0"/>
              <a:t>Utiliza una misma clave para cifrar y descifrar la información. Es rápida pero menos segura que la criptografía de clave asimétrica. </a:t>
            </a:r>
          </a:p>
          <a:p>
            <a:r>
              <a:rPr lang="es-MX" b="1" dirty="0"/>
              <a:t>Criptografía de clave asimétrica:</a:t>
            </a:r>
            <a:endParaRPr lang="es-MX" dirty="0"/>
          </a:p>
          <a:p>
            <a:pPr fontAlgn="ctr"/>
            <a:r>
              <a:rPr lang="es-MX" dirty="0"/>
              <a:t>Utiliza dos claves diferentes, una pública para cifrar y otra privada para descifrar. Es más segura que la simétrica pero más lenta. </a:t>
            </a:r>
          </a:p>
          <a:p>
            <a:r>
              <a:rPr lang="es-MX" b="1" dirty="0"/>
              <a:t>Criptografía de hash:</a:t>
            </a:r>
            <a:endParaRPr lang="es-MX" dirty="0"/>
          </a:p>
          <a:p>
            <a:r>
              <a:rPr lang="es-MX" dirty="0"/>
              <a:t>Utiliza funciones matemáticas para generar una huella única (hash) de los datos. Sirve para verificar la integridad de la información. </a:t>
            </a:r>
          </a:p>
          <a:p>
            <a:endParaRPr lang="es-MX" sz="2800" dirty="0"/>
          </a:p>
        </p:txBody>
      </p:sp>
    </p:spTree>
    <p:extLst>
      <p:ext uri="{BB962C8B-B14F-4D97-AF65-F5344CB8AC3E}">
        <p14:creationId xmlns:p14="http://schemas.microsoft.com/office/powerpoint/2010/main" val="1320938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1B90B2-B417-0D6B-C191-394560327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5700" y="0"/>
            <a:ext cx="7340600" cy="1079500"/>
          </a:xfrm>
        </p:spPr>
        <p:txBody>
          <a:bodyPr>
            <a:noAutofit/>
          </a:bodyPr>
          <a:lstStyle/>
          <a:p>
            <a:r>
              <a:rPr lang="es-MX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¿Cómo funciona?</a:t>
            </a:r>
            <a:endParaRPr lang="es-MX" sz="6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D72708-8CAC-7BC5-1084-09547410B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550" y="1079500"/>
            <a:ext cx="11264900" cy="5194300"/>
          </a:xfrm>
        </p:spPr>
        <p:txBody>
          <a:bodyPr>
            <a:normAutofit fontScale="40000" lnSpcReduction="20000"/>
          </a:bodyPr>
          <a:lstStyle/>
          <a:p>
            <a:r>
              <a:rPr lang="es-MX" sz="3500" dirty="0"/>
              <a:t>Principales conceptos de la criptografía:</a:t>
            </a:r>
          </a:p>
          <a:p>
            <a:r>
              <a:rPr lang="es-MX" sz="3500" b="1" dirty="0"/>
              <a:t>Cifrado:</a:t>
            </a:r>
            <a:endParaRPr lang="es-MX" sz="3500" dirty="0"/>
          </a:p>
          <a:p>
            <a:pPr fontAlgn="ctr"/>
            <a:r>
              <a:rPr lang="es-MX" sz="3500" dirty="0"/>
              <a:t>Proceso de transformar la información original (texto plano) en un formato ininteligible (texto cifrado). </a:t>
            </a:r>
          </a:p>
          <a:p>
            <a:r>
              <a:rPr lang="es-MX" sz="3500" b="1" dirty="0"/>
              <a:t>Descifrado:</a:t>
            </a:r>
            <a:endParaRPr lang="es-MX" sz="3500" dirty="0"/>
          </a:p>
          <a:p>
            <a:pPr fontAlgn="ctr"/>
            <a:r>
              <a:rPr lang="es-MX" sz="3500" dirty="0"/>
              <a:t>Proceso inverso al cifrado, que permite recuperar la información original a partir del texto cifrado. </a:t>
            </a:r>
          </a:p>
          <a:p>
            <a:r>
              <a:rPr lang="es-MX" sz="3500" b="1" dirty="0"/>
              <a:t>Claves:</a:t>
            </a:r>
            <a:endParaRPr lang="es-MX" sz="3500" dirty="0"/>
          </a:p>
          <a:p>
            <a:pPr fontAlgn="ctr"/>
            <a:r>
              <a:rPr lang="es-MX" sz="3500" dirty="0"/>
              <a:t>Se utilizan para cifrar y descifrar la información. Pueden ser de clave simétrica (una sola clave para cifrar y descifrar) o asimétrica (dos claves, una pública y otra privada). </a:t>
            </a:r>
          </a:p>
          <a:p>
            <a:r>
              <a:rPr lang="es-MX" sz="3500" b="1" dirty="0"/>
              <a:t>Algoritmos:</a:t>
            </a:r>
            <a:endParaRPr lang="es-MX" sz="3500" dirty="0"/>
          </a:p>
          <a:p>
            <a:pPr fontAlgn="ctr"/>
            <a:r>
              <a:rPr lang="es-MX" sz="3500" dirty="0"/>
              <a:t>Son los procedimientos matemáticos utilizados para realizar el cifrado y descifrado. </a:t>
            </a:r>
          </a:p>
          <a:p>
            <a:r>
              <a:rPr lang="es-MX" sz="3500" dirty="0"/>
              <a:t>Tipos de criptografía:</a:t>
            </a:r>
          </a:p>
          <a:p>
            <a:r>
              <a:rPr lang="es-MX" sz="3500" b="1" dirty="0"/>
              <a:t>Criptografía de clave simétrica:</a:t>
            </a:r>
            <a:endParaRPr lang="es-MX" sz="3500" dirty="0"/>
          </a:p>
          <a:p>
            <a:pPr fontAlgn="ctr"/>
            <a:r>
              <a:rPr lang="es-MX" sz="3500" dirty="0"/>
              <a:t>Utiliza una misma clave para cifrar y descifrar la información. Es rápida pero menos segura que la criptografía de clave asimétrica. </a:t>
            </a:r>
          </a:p>
          <a:p>
            <a:r>
              <a:rPr lang="es-MX" sz="3500" b="1" dirty="0"/>
              <a:t>Criptografía de clave asimétrica:</a:t>
            </a:r>
            <a:endParaRPr lang="es-MX" sz="3500" dirty="0"/>
          </a:p>
          <a:p>
            <a:pPr fontAlgn="ctr"/>
            <a:r>
              <a:rPr lang="es-MX" sz="3500" dirty="0"/>
              <a:t>Utiliza dos claves diferentes, una pública para cifrar y otra privada para descifrar. Es más segura que la simétrica pero más lenta. </a:t>
            </a:r>
          </a:p>
          <a:p>
            <a:r>
              <a:rPr lang="es-MX" sz="3500" b="1" dirty="0"/>
              <a:t>Criptografía de hash:</a:t>
            </a:r>
            <a:endParaRPr lang="es-MX" sz="3500" dirty="0"/>
          </a:p>
          <a:p>
            <a:r>
              <a:rPr lang="es-MX" sz="3500" dirty="0"/>
              <a:t>Utiliza funciones matemáticas para generar una huella única (hash) de los datos. Sirve para verificar la integridad de la información. 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04138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BE73C-7D31-BC3B-9AAC-CC736D542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96AE4C-49A5-D6A1-F5B9-10CAF85CC4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89312" y="292100"/>
            <a:ext cx="5413375" cy="961496"/>
          </a:xfrm>
        </p:spPr>
        <p:txBody>
          <a:bodyPr>
            <a:normAutofit/>
          </a:bodyPr>
          <a:lstStyle/>
          <a:p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Conclución</a:t>
            </a:r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C5DF8C-91F7-9880-2FBB-32796767D0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400" y="1920346"/>
            <a:ext cx="11201400" cy="2880254"/>
          </a:xfrm>
        </p:spPr>
        <p:txBody>
          <a:bodyPr>
            <a:normAutofit/>
          </a:bodyPr>
          <a:lstStyle/>
          <a:p>
            <a:r>
              <a:rPr lang="es-MX" sz="2800" dirty="0"/>
              <a:t>La ciber seguridad es indispensable para la seguridad de cuentas, correos, datos bancarios, </a:t>
            </a:r>
            <a:r>
              <a:rPr lang="es-MX" sz="2800" dirty="0" err="1"/>
              <a:t>etc</a:t>
            </a:r>
            <a:r>
              <a:rPr lang="es-MX" sz="2800" dirty="0"/>
              <a:t>…</a:t>
            </a:r>
          </a:p>
          <a:p>
            <a:r>
              <a:rPr lang="es-MX" sz="2800" dirty="0"/>
              <a:t>Por eso es importante estar atento y cambiar la contraseña </a:t>
            </a:r>
            <a:r>
              <a:rPr lang="es-MX" sz="2800" dirty="0" err="1"/>
              <a:t>recurentemente</a:t>
            </a:r>
            <a:endParaRPr lang="es-MX" sz="2800" dirty="0"/>
          </a:p>
        </p:txBody>
      </p:sp>
    </p:spTree>
    <p:extLst>
      <p:ext uri="{BB962C8B-B14F-4D97-AF65-F5344CB8AC3E}">
        <p14:creationId xmlns:p14="http://schemas.microsoft.com/office/powerpoint/2010/main" val="10237350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56419-824E-0B38-CBFC-AA88B4504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6F38B1EB-D678-0F28-54F8-179EF2A135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90505"/>
            <a:ext cx="9448800" cy="1825096"/>
          </a:xfrm>
        </p:spPr>
        <p:txBody>
          <a:bodyPr/>
          <a:lstStyle/>
          <a:p>
            <a:r>
              <a:rPr lang="es-MX" dirty="0" err="1"/>
              <a:t>GRacias</a:t>
            </a:r>
            <a:r>
              <a:rPr lang="es-MX" dirty="0"/>
              <a:t> por su atención</a:t>
            </a:r>
          </a:p>
        </p:txBody>
      </p:sp>
    </p:spTree>
    <p:extLst>
      <p:ext uri="{BB962C8B-B14F-4D97-AF65-F5344CB8AC3E}">
        <p14:creationId xmlns:p14="http://schemas.microsoft.com/office/powerpoint/2010/main" val="819333031"/>
      </p:ext>
    </p:extLst>
  </p:cSld>
  <p:clrMapOvr>
    <a:masterClrMapping/>
  </p:clrMapOvr>
</p:sld>
</file>

<file path=ppt/theme/theme1.xml><?xml version="1.0" encoding="utf-8"?>
<a:theme xmlns:a="http://schemas.openxmlformats.org/drawingml/2006/main" name="Estela de condensación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TM04033937[[fn=Estela de condensación]]</Template>
  <TotalTime>66</TotalTime>
  <Words>1251</Words>
  <Application>Microsoft Office PowerPoint</Application>
  <PresentationFormat>Panorámica</PresentationFormat>
  <Paragraphs>96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Arial</vt:lpstr>
      <vt:lpstr>Century Gothic</vt:lpstr>
      <vt:lpstr>Google Sans</vt:lpstr>
      <vt:lpstr>Times New Roman</vt:lpstr>
      <vt:lpstr>Estela de condensación</vt:lpstr>
      <vt:lpstr>La  ciberseguridad</vt:lpstr>
      <vt:lpstr>Introducción</vt:lpstr>
      <vt:lpstr>CIBERseguridad</vt:lpstr>
      <vt:lpstr>¿en que se centra?</vt:lpstr>
      <vt:lpstr>¿de que se conforma?</vt:lpstr>
      <vt:lpstr>¿tiene limitaciones?</vt:lpstr>
      <vt:lpstr>LOS hackers</vt:lpstr>
      <vt:lpstr>¿Qué son los hackers?</vt:lpstr>
      <vt:lpstr>¿Qué tipo de hackers hay?</vt:lpstr>
      <vt:lpstr>¿Qué diferencia hay entre hackers y crakers?</vt:lpstr>
      <vt:lpstr>LA criptografía</vt:lpstr>
      <vt:lpstr>¿Qué es la criptografía?</vt:lpstr>
      <vt:lpstr>¿de que se conforma?</vt:lpstr>
      <vt:lpstr>¿Cómo funciona?</vt:lpstr>
      <vt:lpstr>¿Cómo funciona?</vt:lpstr>
      <vt:lpstr>Conclución</vt:lpstr>
      <vt:lpstr>GRacias por su atención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CompuAula 03</dc:creator>
  <cp:lastModifiedBy>CompuAula 03</cp:lastModifiedBy>
  <cp:revision>1</cp:revision>
  <dcterms:created xsi:type="dcterms:W3CDTF">2025-06-06T21:08:17Z</dcterms:created>
  <dcterms:modified xsi:type="dcterms:W3CDTF">2025-06-06T22:15:16Z</dcterms:modified>
</cp:coreProperties>
</file>